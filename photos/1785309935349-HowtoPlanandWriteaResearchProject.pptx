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Unbounded Light"/>
      <p:regular r:id="rId15"/>
      <p:bold r:id="rId16"/>
    </p:embeddedFont>
    <p:embeddedFont>
      <p:font typeface="Unbounded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UnboundedLight-regular.fntdata"/><Relationship Id="rId14" Type="http://schemas.openxmlformats.org/officeDocument/2006/relationships/slide" Target="slides/slide10.xml"/><Relationship Id="rId17" Type="http://schemas.openxmlformats.org/officeDocument/2006/relationships/font" Target="fonts/Unbounded-bold.fntdata"/><Relationship Id="rId16" Type="http://schemas.openxmlformats.org/officeDocument/2006/relationships/font" Target="fonts/UnboundedLight-bold.fntdata"/><Relationship Id="rId5" Type="http://schemas.openxmlformats.org/officeDocument/2006/relationships/slide" Target="slides/slide1.xml"/><Relationship Id="rId19" Type="http://schemas.openxmlformats.org/officeDocument/2006/relationships/font" Target="fonts/OpenSans-bold.fntdata"/><Relationship Id="rId6" Type="http://schemas.openxmlformats.org/officeDocument/2006/relationships/slide" Target="slides/slide2.xml"/><Relationship Id="rId18" Type="http://schemas.openxmlformats.org/officeDocument/2006/relationships/font" Target="fonts/Open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3925119" y="1687562"/>
            <a:ext cx="4722763" cy="132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to Plan and Write a Research Project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925119" y="3229124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Workshop · </a:t>
            </a:r>
            <a:r>
              <a:rPr b="1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Society of Capital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253847" y="4727770"/>
            <a:ext cx="18744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496119" y="125759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We'll Cover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496119" y="198410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Unbounded Light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96119" y="2206005"/>
            <a:ext cx="2622724" cy="1905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496119" y="2314947"/>
            <a:ext cx="262272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Choosing a question that works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260601" y="198410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Unbounded Light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3260601" y="2206005"/>
            <a:ext cx="2622724" cy="1905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3260601" y="2314947"/>
            <a:ext cx="262272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Finding and evaluating sources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025083" y="198410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Unbounded Light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025083" y="2206005"/>
            <a:ext cx="2622724" cy="1905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6025083" y="2314947"/>
            <a:ext cx="262272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Building a structure before you write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Unbounded Light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Writing clearly without losing rigour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Unbounded Light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642842" y="3227784"/>
            <a:ext cx="4004965" cy="1905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642842" y="3336727"/>
            <a:ext cx="400496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Common mistakes and how to avoid them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253847" y="4727770"/>
            <a:ext cx="18744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96119" y="395883"/>
            <a:ext cx="4722763" cy="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650"/>
              <a:buFont typeface="Unbounded"/>
              <a:buNone/>
            </a:pPr>
            <a:r>
              <a:rPr b="1" i="0" lang="en-US" sz="2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Start with a Question, Not a Topic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433661"/>
            <a:ext cx="4722763" cy="101880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726430" y="1587773"/>
            <a:ext cx="4338340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topic invites a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726430" y="1876127"/>
            <a:ext cx="4338340" cy="42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"Renewable energy" or "financial crises" — broad subject areas, not research questions. They lead to descriptions, not arguments.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581201"/>
            <a:ext cx="4722763" cy="101880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726430" y="2735312"/>
            <a:ext cx="4338340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question demands an argument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726430" y="3023667"/>
            <a:ext cx="4338340" cy="42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"Why did solar electricity become cheaper than gas in the UAE between 2015 and 2023?" — specific, answerable, debatable.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728740"/>
            <a:ext cx="4722763" cy="101880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726430" y="3882851"/>
            <a:ext cx="4338340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26430" y="4171206"/>
            <a:ext cx="4338340" cy="42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Could a reasonable, informed person disagree with your answer? If yes, it's a research question. If no, it's a report topic.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496119" y="123095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Makes a Good Question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96119" y="1957462"/>
            <a:ext cx="2622724" cy="1955081"/>
          </a:xfrm>
          <a:prstGeom prst="roundRect">
            <a:avLst>
              <a:gd fmla="val 3046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642640" y="2103983"/>
            <a:ext cx="232968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Specific enough to answer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642640" y="2631951"/>
            <a:ext cx="2329681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Bad:</a:t>
            </a: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"Is climate change a problem?"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Good:</a:t>
            </a: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"What single engineering change would most reduce cooling energy in UAE schools?"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3260601" y="1957462"/>
            <a:ext cx="2622724" cy="1955081"/>
          </a:xfrm>
          <a:prstGeom prst="roundRect">
            <a:avLst>
              <a:gd fmla="val 3046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407122" y="2103983"/>
            <a:ext cx="232968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Has available evidence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407122" y="2631951"/>
            <a:ext cx="2329681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If you can't find data or credible sources within two hours, the question is either too niche or too new. Adjust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025083" y="1957462"/>
            <a:ext cx="2622724" cy="1955081"/>
          </a:xfrm>
          <a:prstGeom prst="roundRect">
            <a:avLst>
              <a:gd fmla="val 3046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171605" y="2103983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Forces a position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171605" y="2410495"/>
            <a:ext cx="2329681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"How does a heat pump work?" is a description task. "Are heat pumps a realistic replacement for conventional AC in the Gulf?" is a research question.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7253847" y="4727770"/>
            <a:ext cx="18744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496119" y="416570"/>
            <a:ext cx="8151763" cy="37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350"/>
              <a:buFont typeface="Unbounded"/>
              <a:buNone/>
            </a:pPr>
            <a:r>
              <a:rPr b="1" i="0" lang="en-US" sz="2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Finding and Evaluating Sources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120973"/>
            <a:ext cx="5196483" cy="342661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/>
          <p:nvPr/>
        </p:nvSpPr>
        <p:spPr>
          <a:xfrm>
            <a:off x="5989216" y="1042615"/>
            <a:ext cx="2663354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Where to start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5989216" y="1330375"/>
            <a:ext cx="2663354" cy="705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Begin with the most authoritative source available: government data, company filings, peer-reviewed research, or established institutions like the World Bank, IMF, or IEA.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5989216" y="2136725"/>
            <a:ext cx="2663354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Source hierarchy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5989216" y="2424485"/>
            <a:ext cx="2663354" cy="1305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1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Primary:</a:t>
            </a: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Tesla's 10-K filing — the actual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1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Secondary:</a:t>
            </a: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 FT article about Tesla's revenue — useful context, not primary evidence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1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Starting point only:</a:t>
            </a: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Wikipedia — use its reference list to find actual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989216" y="3843040"/>
            <a:ext cx="2663354" cy="770334"/>
          </a:xfrm>
          <a:prstGeom prst="roundRect">
            <a:avLst>
              <a:gd fmla="val 6522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8799" y="4021113"/>
            <a:ext cx="149498" cy="11958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/>
          <p:nvPr/>
        </p:nvSpPr>
        <p:spPr>
          <a:xfrm>
            <a:off x="6377880" y="3963665"/>
            <a:ext cx="2155106" cy="529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Keep a running list of every source as you go. Reconstructing sources after writing is painful and error-prone.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7253847" y="4727770"/>
            <a:ext cx="18744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496119" y="53898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Evaluating a Source: Four Questions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65486"/>
            <a:ext cx="4004965" cy="170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/>
          <p:nvPr/>
        </p:nvSpPr>
        <p:spPr>
          <a:xfrm>
            <a:off x="2413508" y="1371823"/>
            <a:ext cx="170111" cy="21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56927" y="1832446"/>
            <a:ext cx="368334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Who published it, and what is their incentive?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656927" y="2360414"/>
            <a:ext cx="36833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bank's research note on a sector it lends to is not neutral.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2842" y="1265486"/>
            <a:ext cx="4005039" cy="170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6560232" y="1371823"/>
            <a:ext cx="170111" cy="21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4803651" y="1832446"/>
            <a:ext cx="3683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When was it published?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4803651" y="2138958"/>
            <a:ext cx="36834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 from 2018 may not reflect 2026 reality.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116610"/>
            <a:ext cx="4004965" cy="14879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2413508" y="3222947"/>
            <a:ext cx="170111" cy="21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656927" y="3683571"/>
            <a:ext cx="36833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Does it show its working?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56927" y="3990082"/>
            <a:ext cx="36833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claim without methodology or data is an opinion, not evidence.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2842" y="3116610"/>
            <a:ext cx="4005039" cy="14879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/>
          <p:nvPr/>
        </p:nvSpPr>
        <p:spPr>
          <a:xfrm>
            <a:off x="6560232" y="3222947"/>
            <a:ext cx="170111" cy="21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803651" y="3683571"/>
            <a:ext cx="3683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Do other credible sources agree?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803651" y="3990082"/>
            <a:ext cx="36834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If your argument rests on a single uncorroborated source, flag that explicitly in your writing.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7253847" y="4727770"/>
            <a:ext cx="18744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>
            <a:off x="496119" y="409203"/>
            <a:ext cx="8151763" cy="33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00"/>
              <a:buFont typeface="Unbounded"/>
              <a:buNone/>
            </a:pPr>
            <a:r>
              <a:rPr b="1" i="0" lang="en-US" sz="21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Structure Before Sentences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96119" y="914549"/>
            <a:ext cx="8608963" cy="153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Write your structure before a single paragraph. A structure is a sequence of claims, each building on the last, leading to your conclusion.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1161306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7002209" y="3288814"/>
            <a:ext cx="1190147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5502299" y="340344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010540" y="340344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Objection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2518781" y="340344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994415" y="340344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496119" y="4215705"/>
            <a:ext cx="8151763" cy="518592"/>
          </a:xfrm>
          <a:prstGeom prst="roundRect">
            <a:avLst>
              <a:gd fmla="val 8791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614" y="4361111"/>
            <a:ext cx="135657" cy="1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848767" y="4325838"/>
            <a:ext cx="7690619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Open Sans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outline test:</a:t>
            </a:r>
            <a:r>
              <a:rPr b="0" i="0" lang="en-US" sz="8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Before writing, list your section headings in order. Read just the headings — does a reader understand your argument? If yes, the structure works. If no, move the headings around until the logic flows, </a:t>
            </a:r>
            <a:r>
              <a:rPr b="0" i="1" lang="en-US" sz="8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then</a:t>
            </a:r>
            <a:r>
              <a:rPr b="0" i="0" lang="en-US" sz="8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write.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7253850" y="4780699"/>
            <a:ext cx="1874400" cy="33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"/>
          <p:cNvSpPr/>
          <p:nvPr/>
        </p:nvSpPr>
        <p:spPr>
          <a:xfrm>
            <a:off x="496119" y="596057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Writing Clearly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250" y="1256035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956816" y="1251645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One idea per paragraph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956816" y="1558156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first sentence should tell the reader what that paragraph will argue.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250" y="2299692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/>
          <p:nvPr/>
        </p:nvSpPr>
        <p:spPr>
          <a:xfrm>
            <a:off x="956816" y="2295302"/>
            <a:ext cx="426206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the shortest sentence that preserves the meaning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56816" y="2823270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Define technical terms the first time they appear, even if you think the reader knows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250" y="3564806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"/>
          <p:cNvSpPr/>
          <p:nvPr/>
        </p:nvSpPr>
        <p:spPr>
          <a:xfrm>
            <a:off x="956816" y="3560415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Numbers strengthen arguments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56816" y="3866927"/>
            <a:ext cx="4262065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"Solar costs fell significantly" is weak. "Solar LCOE in the UAE fell from USD 0.058 per kWh in 2015 to USD 0.013 in 2020" is evidence.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/>
          <p:nvPr/>
        </p:nvSpPr>
        <p:spPr>
          <a:xfrm>
            <a:off x="496119" y="118348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50"/>
              <a:buFont typeface="Unbounded"/>
              <a:buNone/>
            </a:pPr>
            <a:r>
              <a:rPr b="1" i="0" lang="en-US" sz="2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Handling Counterarguments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96119" y="1980828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strong essays 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96119" y="2344043"/>
            <a:ext cx="3902943" cy="14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They state the </a:t>
            </a:r>
            <a:r>
              <a:rPr b="1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strongest version</a:t>
            </a: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of the opposing view, then explain why the evidence supports a different conclusion. This is the single biggest difference between a good essay and an average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SCD essay competitions award </a:t>
            </a:r>
            <a:r>
              <a:rPr b="1" i="0" lang="en-US" sz="1100" u="none" cap="none" strike="noStrike">
                <a:solidFill>
                  <a:srgbClr val="FC8337"/>
                </a:solidFill>
                <a:latin typeface="Open Sans"/>
                <a:ea typeface="Open Sans"/>
                <a:cs typeface="Open Sans"/>
                <a:sym typeface="Open Sans"/>
              </a:rPr>
              <a:t>15 out of 50 marks</a:t>
            </a: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for argument quality — this is what that criterion is testing.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749701" y="1980828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straw man mistake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4749701" y="2344043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Presenting a weak version of the opposing argument so it's easy to dismiss. Experienced readers spot it immediately.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4749701" y="2957140"/>
            <a:ext cx="3902943" cy="779562"/>
          </a:xfrm>
          <a:prstGeom prst="roundRect">
            <a:avLst>
              <a:gd fmla="val 7638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1460" y="317696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2"/>
          <p:cNvSpPr/>
          <p:nvPr/>
        </p:nvSpPr>
        <p:spPr>
          <a:xfrm>
            <a:off x="5210398" y="3120107"/>
            <a:ext cx="330048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Don't make the counterargument easy to beat. Make it hard — then beat it anyway.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7253847" y="4727770"/>
            <a:ext cx="18744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496119" y="430857"/>
            <a:ext cx="8151763" cy="304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00"/>
              <a:buFont typeface="Unbounded"/>
              <a:buNone/>
            </a:pPr>
            <a:r>
              <a:rPr b="1" i="0" lang="en-US" sz="19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Common Mistakes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69305"/>
            <a:ext cx="8151763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3"/>
          <p:cNvSpPr/>
          <p:nvPr/>
        </p:nvSpPr>
        <p:spPr>
          <a:xfrm>
            <a:off x="629841" y="1070297"/>
            <a:ext cx="146149" cy="18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967234" y="981001"/>
            <a:ext cx="7568952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Writing the introduction first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967234" y="1173435"/>
            <a:ext cx="7568952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And then discovering your argument has changed. </a:t>
            </a:r>
            <a:r>
              <a:rPr b="1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Fix:</a:t>
            </a: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Write the introduction last.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21023"/>
            <a:ext cx="8151763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/>
          <p:nvPr/>
        </p:nvSpPr>
        <p:spPr>
          <a:xfrm>
            <a:off x="629841" y="1722016"/>
            <a:ext cx="146149" cy="18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967234" y="1632719"/>
            <a:ext cx="7568952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Ten sources superficially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967234" y="1825154"/>
            <a:ext cx="7568952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Instead of four sources deeply. </a:t>
            </a:r>
            <a:r>
              <a:rPr b="1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Fix:</a:t>
            </a: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For each source, note one specific claim it supports and one limitation.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72742"/>
            <a:ext cx="8151763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3"/>
          <p:cNvSpPr/>
          <p:nvPr/>
        </p:nvSpPr>
        <p:spPr>
          <a:xfrm>
            <a:off x="629841" y="2373734"/>
            <a:ext cx="146149" cy="18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967234" y="2284437"/>
            <a:ext cx="7568952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Confusing description with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967234" y="2476872"/>
            <a:ext cx="7568952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"X happened, then Y happened" is description. "X caused Y because of Z mechanism" is analysis.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824460"/>
            <a:ext cx="8151763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/>
          <p:nvPr/>
        </p:nvSpPr>
        <p:spPr>
          <a:xfrm>
            <a:off x="629841" y="3025453"/>
            <a:ext cx="146149" cy="18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967234" y="2936156"/>
            <a:ext cx="7568952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Including interesting but irrelevant information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967234" y="3128590"/>
            <a:ext cx="7568952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paragraph must answer: how does this help me answer my question?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476179"/>
            <a:ext cx="8151763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/>
          <p:cNvSpPr/>
          <p:nvPr/>
        </p:nvSpPr>
        <p:spPr>
          <a:xfrm>
            <a:off x="629841" y="3677171"/>
            <a:ext cx="146149" cy="18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967234" y="3587874"/>
            <a:ext cx="7568952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Forgetting to state your position clearly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967234" y="3780309"/>
            <a:ext cx="7568952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reader should find your main argument in one sentence, ideally in the opening or closing paragraph.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4127897"/>
            <a:ext cx="8151763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/>
          <p:nvPr/>
        </p:nvSpPr>
        <p:spPr>
          <a:xfrm>
            <a:off x="629841" y="4328889"/>
            <a:ext cx="146149" cy="18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967234" y="4239592"/>
            <a:ext cx="7568952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Citing a source you haven't read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967234" y="4432027"/>
            <a:ext cx="7568952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If you only read the abstract, cite it as "as cited in" or go read the full text.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7253847" y="4727770"/>
            <a:ext cx="1874400" cy="3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